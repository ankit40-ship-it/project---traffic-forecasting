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Pattern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exploring, and forecasting one year of hourly intersection traffic volume using classical time-series methods.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5120640" cy="0"/>
          </a:xfrm>
          <a:prstGeom prst="line">
            <a:avLst/>
          </a:prstGeom>
          <a:noFill/>
          <a:ln w="12700">
            <a:solidFill>
              <a:srgbClr val="3E4A9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6108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 |  BCA, MDU University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22792" y="6108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 – 4, 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sensor data to a 30-day forecast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simulates a full applied data-science workflow on synthetic hourly traffic-volume data for one intersection, spanning 12 months.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32918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593592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Generation &amp; Cleaning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4416552"/>
            <a:ext cx="2029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traffic with gaps and outliers, then correct them.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1024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77056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77056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32918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77056" y="3593592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EDA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4416552"/>
            <a:ext cx="2029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hourly, daily, and weekly patterns visually.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19088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2918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593592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416552"/>
            <a:ext cx="2029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cleaned distribution of vehicle counts.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17152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73184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73184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473184" y="32918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473184" y="3593592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&amp; Forecasting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4416552"/>
            <a:ext cx="20299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series and compare three forecasting models.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year of synthetic hourly traffic volume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8,760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readings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(365 days × 24 hours)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3703320"/>
            <a:ext cx="2651760" cy="0"/>
          </a:xfrm>
          <a:prstGeom prst="line">
            <a:avLst/>
          </a:prstGeom>
          <a:noFill/>
          <a:ln w="12700">
            <a:solidFill>
              <a:srgbClr val="3E4A9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88620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mimic real traffic behaviour — not scraped from a live sensor feed — so ground truth is known at every stage.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64792"/>
            <a:ext cx="310896" cy="3108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764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682496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seasonality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029968"/>
            <a:ext cx="635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(~8am) and evening (~6pm) rush-hour peaks on weekdays; one broad midday peak on weekends.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752344"/>
            <a:ext cx="310896" cy="3108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670048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seasonality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017520"/>
            <a:ext cx="635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volumes consistently outrun weekend volumes.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739896"/>
            <a:ext cx="310896" cy="3108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39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657600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drift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005072"/>
            <a:ext cx="635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seasonal sinusoid plus a gentle upward trend, simulating city growth over the year.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727448"/>
            <a:ext cx="310896" cy="3108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4727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645152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Injected noise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992624"/>
            <a:ext cx="6355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Gaussian noise, 60 missing hourly readings, and 25 outlier spikes/drops (accidents, closures).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gaps and outliers before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flagged with the IQR method, treated as missing, then imputed — together with the original gaps — via time-based interpolation, appropriate for a smooth hourly flow series.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8346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033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(raw)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21024" y="25146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9624" y="28346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37033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found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(IQR method)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19088" y="25146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28346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7033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points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17152" y="251460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45752" y="28346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445752" y="37033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NaNs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bounds used a wider 3× multiplier (rather than the usual 1.5×) so genuine rush-hour peaks weren't mistaken for outliers — only extreme accident/closure-style spikes and drops were flagged.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DESCRIPTIVE STATISTICS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the cleaned traffic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5623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404.2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3288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vehicles / hr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21024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03904" y="185623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803904" y="253288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19088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1968" y="185623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53288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17152" y="16916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00032" y="185623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755.6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400032" y="253288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spread (25th – 75th percentile)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023360"/>
            <a:ext cx="10515600" cy="54864"/>
          </a:xfrm>
          <a:prstGeom prst="rect">
            <a:avLst/>
          </a:prstGeom>
          <a:solidFill>
            <a:srgbClr val="E3E3E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78975" y="3886200"/>
            <a:ext cx="1568394" cy="329184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1498" y="3813048"/>
            <a:ext cx="0" cy="475488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18538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405.2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755.6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30335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352.8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98729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460.6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57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fairly tight around its mean (std ≈ 76), with the long right tail driven mainly by weekday evening rush-hour peaks rather than data errors.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Rush hour, mapped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85800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</p:spPr>
      </p:sp>
      <p:pic>
        <p:nvPicPr>
          <p:cNvPr id="5" name="Image 0" descr="04_heatmap_hour_d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128" y="1783080"/>
            <a:ext cx="6455664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71907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75320" y="1581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 weekday peaks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9202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cells cluster at 7–9am and 5–7pm, Monday through Friday — classic commute behaviour.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313639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2999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flattens out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3337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and Sunday stay uniformly light — no sharp rush-hour spikes, just a mild midday lift.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455371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4416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Evening beats morning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4754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5–7pm band runs slightly hotter than the morning band across all five weekdays.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TIME-SERIES DECOMPOSITION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trend, seasonality, and noise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additive decomposition (period = 7 days) on daily totals splits the series into three interpretable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400800" cy="4343400"/>
          </a:xfrm>
          <a:prstGeom prst="roundRect">
            <a:avLst>
              <a:gd name="adj" fmla="val 1263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pic>
        <p:nvPicPr>
          <p:cNvPr id="6" name="Image 0" descr="06_seasonal_decompo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2212848"/>
            <a:ext cx="612648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2249424"/>
            <a:ext cx="201168" cy="2011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18120" y="2139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48716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steadily through the first half of the year, peaks around June, then eases back — the injected growth + seasonal drift.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52360" y="3575304"/>
            <a:ext cx="201168" cy="201168"/>
          </a:xfrm>
          <a:prstGeom prst="rect">
            <a:avLst/>
          </a:prstGeom>
          <a:solidFill>
            <a:srgbClr val="5B79D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812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8130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 repeating weekly square wave: high on weekdays, a sharp drop every weekend.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4901184"/>
            <a:ext cx="201168" cy="201168"/>
          </a:xfrm>
          <a:prstGeom prst="rect">
            <a:avLst/>
          </a:prstGeom>
          <a:solidFill>
            <a:srgbClr val="B9B9C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18120" y="47914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13892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scattered tightly around zero, with a few larger spikes matching injected outlier days.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FORECASTING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30-day holdout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totals were split into a training set and a final 30-day test window. Each model forecasts that window blind, then is scored against actuals.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364992" cy="33832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6243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291840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Average (7d)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069080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baseline: forecasts every day as the mean of the last 7 training days. No trend or seasonality awareness.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7408" y="2331720"/>
            <a:ext cx="3364992" cy="33832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6243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291840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Smoothing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4069080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with additive trend and additive weekly seasonality (period = 7). Adapts to both the trend and the weekday/weekend cycle.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364992" cy="33832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6243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6176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291840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SARIMA(1,1,1)(1,1,1,7)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4069080"/>
            <a:ext cx="28163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ARIMA capturing autocorrelation plus a 7-day seasonal component through differencing.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Smoothing wins on both metrics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6309360" cy="4892040"/>
          </a:xfrm>
          <a:prstGeom prst="roundRect">
            <a:avLst>
              <a:gd name="adj" fmla="val 112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pic>
        <p:nvPicPr>
          <p:cNvPr id="5" name="Image 0" descr="07_forecast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645920"/>
            <a:ext cx="603504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600200"/>
            <a:ext cx="393192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E3E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2" y="1600200"/>
            <a:ext cx="188000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496958" y="1600200"/>
            <a:ext cx="94366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440619" y="1600200"/>
            <a:ext cx="8065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52360" y="2167128"/>
            <a:ext cx="3931920" cy="566928"/>
          </a:xfrm>
          <a:prstGeom prst="rect">
            <a:avLst/>
          </a:prstGeom>
          <a:solidFill>
            <a:srgbClr val="F7F7FA"/>
          </a:solidFill>
          <a:ln w="6350">
            <a:solidFill>
              <a:srgbClr val="E3E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2" y="2167128"/>
            <a:ext cx="188000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 (7d)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496958" y="2167128"/>
            <a:ext cx="94366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1171.2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440619" y="2167128"/>
            <a:ext cx="8065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1300.9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52360" y="2734056"/>
            <a:ext cx="3931920" cy="566928"/>
          </a:xfrm>
          <a:prstGeom prst="rect">
            <a:avLst/>
          </a:prstGeom>
          <a:solidFill>
            <a:srgbClr val="FDEFD8"/>
          </a:solidFill>
          <a:ln w="6350">
            <a:solidFill>
              <a:srgbClr val="E3E3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16952" y="2734056"/>
            <a:ext cx="188000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Smoothing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496958" y="2734056"/>
            <a:ext cx="94366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440619" y="2734056"/>
            <a:ext cx="8065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52360" y="3300984"/>
            <a:ext cx="3931920" cy="566928"/>
          </a:xfrm>
          <a:prstGeom prst="rect">
            <a:avLst/>
          </a:prstGeom>
          <a:solidFill>
            <a:srgbClr val="F7F7FA"/>
          </a:solidFill>
          <a:ln w="6350">
            <a:solidFill>
              <a:srgbClr val="E3E3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16952" y="3300984"/>
            <a:ext cx="188000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SARIMA(1,1,1)(1,1,1,7)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496958" y="3300984"/>
            <a:ext cx="94366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440619" y="3300984"/>
            <a:ext cx="80650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106.5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52360" y="4187952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0" y="4352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6268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Smoothing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494690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 (74.7) and MAE (61.9) — the weekly-seasonal baseline the moving average lacks, without SARIMA's extra complexity.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shows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6358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24028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1031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over volume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87752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highly structured — dominated by predictable daily and weekly cycles — so models that capture seasonality dramatically outperform naive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63582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24028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21031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Simplicity can win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87752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Exponential Smoothing beat a full SARIMA model here, showing added complexity doesn't guarantee better forecasts.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6358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48056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4343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 matters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828032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Interpolating just 72 flagged points (0.8% of readings) was enough to unlock reliable downstream statistics and forecasts.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2062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6358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448056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4343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seasonality dominates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828032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winning approaches lean on the 7-day cycle — the single strongest signal in the data, stronger than yearly drift.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6400800" cy="640080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4114800" cy="0"/>
          </a:xfrm>
          <a:prstGeom prst="line">
            <a:avLst/>
          </a:prstGeom>
          <a:noFill/>
          <a:ln w="12700">
            <a:solidFill>
              <a:srgbClr val="3E4A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ankityadavv975@gmail.com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2026-08-27T15:34:30Z</dcterms:created>
  <dcterms:modified xsi:type="dcterms:W3CDTF">2026-08-27T15:34:30Z</dcterms:modified>
</cp:coreProperties>
</file>